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ea16cb7c954b5e" /><Relationship Type="http://schemas.openxmlformats.org/officeDocument/2006/relationships/extended-properties" Target="/docProps/app.xml" Id="R7221b42543b649bc" /><Relationship Type="http://schemas.openxmlformats.org/officeDocument/2006/relationships/officeDocument" Target="/ppt/presentation.xml" Id="R7875b682524f4c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e5b4d13fed46ec"/>
  </p:sldMasterIdLst>
  <p:notesMasterIdLst>
    <p:notesMasterId xmlns:r="http://schemas.openxmlformats.org/officeDocument/2006/relationships" r:id="R6ed37b749b234099"/>
  </p:notesMasterIdLst>
  <p:sldIdLst>
    <p:sldId xmlns:r="http://schemas.openxmlformats.org/officeDocument/2006/relationships" id="256" r:id="R11c99069c407475c"/>
    <p:sldId xmlns:r="http://schemas.openxmlformats.org/officeDocument/2006/relationships" id="257" r:id="Rf298b79816ad46df"/>
    <p:sldId xmlns:r="http://schemas.openxmlformats.org/officeDocument/2006/relationships" id="258" r:id="R9e8770f3d4044069"/>
    <p:sldId xmlns:r="http://schemas.openxmlformats.org/officeDocument/2006/relationships" id="259" r:id="R4d76aaeed88b44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21f0c8ef1c4343" /><Relationship Type="http://schemas.openxmlformats.org/officeDocument/2006/relationships/slideMaster" Target="/ppt/slideMasters/slideMaster1.xml" Id="Rdde5b4d13fed46ec" /><Relationship Type="http://schemas.openxmlformats.org/officeDocument/2006/relationships/notesMaster" Target="/ppt/notesMasters/notesMaster1.xml" Id="R6ed37b749b234099" /><Relationship Type="http://schemas.openxmlformats.org/officeDocument/2006/relationships/presProps" Target="/ppt/presProps.xml" Id="Rceed1d9c51be4519" /><Relationship Type="http://schemas.openxmlformats.org/officeDocument/2006/relationships/tableStyles" Target="/ppt/tableStyles.xml" Id="Rf8c7a07c377b4850" /><Relationship Type="http://schemas.openxmlformats.org/officeDocument/2006/relationships/slide" Target="/ppt/slides/slide1.xml" Id="R11c99069c407475c" /><Relationship Type="http://schemas.openxmlformats.org/officeDocument/2006/relationships/slide" Target="/ppt/slides/slide2.xml" Id="Rf298b79816ad46df" /><Relationship Type="http://schemas.openxmlformats.org/officeDocument/2006/relationships/slide" Target="/ppt/slides/slide3.xml" Id="R9e8770f3d4044069" /><Relationship Type="http://schemas.openxmlformats.org/officeDocument/2006/relationships/slide" Target="/ppt/slides/slide4.xml" Id="R4d76aaeed88b44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33a27b385e48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cd907f179443b9" /><Relationship Type="http://schemas.openxmlformats.org/officeDocument/2006/relationships/notesMaster" Target="/ppt/notesMasters/notesMaster1.xml" Id="R716ba152b07047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6e81fea9254935" /><Relationship Type="http://schemas.openxmlformats.org/officeDocument/2006/relationships/notesMaster" Target="/ppt/notesMasters/notesMaster1.xml" Id="R4b23d38a1abd40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6db87a3c45434f" /><Relationship Type="http://schemas.openxmlformats.org/officeDocument/2006/relationships/notesMaster" Target="/ppt/notesMasters/notesMaster1.xml" Id="Rc231d0cdb4f744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0c26eb9b6e41e4" /><Relationship Type="http://schemas.openxmlformats.org/officeDocument/2006/relationships/notesMaster" Target="/ppt/notesMasters/notesMaster1.xml" Id="R4b353c3bd3b74b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is preserving the business meaning already present in reports. This is a fictional fixture demonstration, not a company deployment. Prework prepared synthetic data, report fixtures, search and a starter agent. Event work adds the product workflow, separate agents and tests. Source: README.md, STATUS.md, fixtures/business/definitions.md in https://github.com/LALITHASWAROOPK/d2k-inspired-sales-hackathon/tree/codex/l2p-hackathon-build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figures exclude tax; no currency is modeled. These are observed synthetic snapshot amounts, not savings. HANA-style model supplies the source formula; Qlik fixtures add aliases and chart aggregation. The core invoiced product follows the invoice/Spotfire path, not a claim that Qlik and Spotfire logic were merged. Source: event/l2p/evidence/regression_results.json; fixtures/qlik/sales_performance.qvs and metadata; fixtures/hana SQL equivalents; consumer C1 trace. B3 saved run later released v2. Use the actual version shown during the demo. https://github.com/LALITHASWAROOPK/d2k-inspired-sales-hackathon/tree/codex/l2p-hackathon-build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architecture diagram. The builder has catalog search and bounded propose/create/validate/release tools. Candidates and snapshots are isolated. The release gate must pass before consumer read tools serve the product. Both orchestration models are claude-opus-5-5. Skills are staged and attached; invocation evidence remains pending at this checkpoint. Solid paths describe deployed components; dashed connector is future. Local loopback UI and Python backend are implemented; live consumer ranking and builder lineage tracing verified. The UI release button uses the same saved builder, but has not yet been exercised from the UI. The workshop uses ATTENDEE_ROLE; separate per-user RBAC is not demonstrated. Source: event/l2p/sql/20_l2p_builder_procs.sql, 30_l2p_consumer_procs.sql, 40_l2p_agents.sql and skills_stage.json. https://github.com/LALITHASWAROOPK/d2k-inspired-sales-hackathon/tree/codex/l2p-hackathon-build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checkpoint: backend regression run finished 12:26 Pacific; v2 custom agent evaluation run_20261023_131859 completed 19/19 with two wording flags: Expected uplift and no invoice yet. Native run CODEX_NATIVE_20261023_1400 completed after the user granted EXECUTE TASK. Two read-only cases per agent; all answer correctness scores 1.00. Consumer logical consistency 1.00/1.00; builder 1.00/0.67. Lower score: citing a definitions search hit without fetching its full version. Native judge scores are separate from deterministic checks and are not a general reliability estimate. Backend code changed afterward, so do not call the old run blanket coverage of all later edits. v2 evaluated 10 cases in 19 runs; selected critical prompts repeated three times. The sample is not a general reliability estimate. Source: event/l2p/evidence/regression_results.json and event/l2p/evidence/eval/run_20261023_131859/summary.md. Claims about missing consent/margin/uplift are fixture limitations. https://github.com/LALITHASWAROOPK/d2k-inspired-sales-hackathon/tree/codex/l2p-hackathon-build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9d7db01594c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f210491e74d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996088b2148c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121055ab146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fb216b0e845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80dbb6ba74f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5CD81D-8BA8-4B64-8FCB-63873C3450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98011B-4772-4A48-BB19-16F8B57E1C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32641D-C4B6-4EE5-BC8C-1C02BA179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0C1795-C2EF-49E1-AEC7-B4E42E348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B2FAC1-7FD4-4690-9811-5C4BD17FF0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25123D-C6BB-4A8A-87AB-234C5FBA2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996BCE-6FD1-45AF-94FB-2AD5B8DFC2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EE0C851-052C-4B9E-9A19-D048F95962F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4480F1-61B4-47FB-867B-EA3DD5E218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C253CA-5416-4444-AE72-16DA417B52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872435c43a4cdf" /><Relationship Type="http://schemas.openxmlformats.org/officeDocument/2006/relationships/slideLayout" Target="/ppt/slideLayouts/slideLayout1.xml" Id="R305d81fa7694400e" /><Relationship Type="http://schemas.openxmlformats.org/officeDocument/2006/relationships/slideLayout" Target="/ppt/slideLayouts/slideLayout2.xml" Id="R96d60065fcfe47c6" /><Relationship Type="http://schemas.openxmlformats.org/officeDocument/2006/relationships/slideLayout" Target="/ppt/slideLayouts/slideLayout3.xml" Id="Rb3b2510a71d349db" /><Relationship Type="http://schemas.openxmlformats.org/officeDocument/2006/relationships/slideLayout" Target="/ppt/slideLayouts/slideLayout4.xml" Id="Rf8221638f37e45d7" /><Relationship Type="http://schemas.openxmlformats.org/officeDocument/2006/relationships/slideLayout" Target="/ppt/slideLayouts/slideLayout5.xml" Id="Ra759417e92df439d" /><Relationship Type="http://schemas.openxmlformats.org/officeDocument/2006/relationships/slideLayout" Target="/ppt/slideLayouts/slideLayout6.xml" Id="Rb642bb5240c844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5d81fa7694400e"/>
    <p:sldLayoutId xmlns:r="http://schemas.openxmlformats.org/officeDocument/2006/relationships" id="2147483650" r:id="R96d60065fcfe47c6"/>
    <p:sldLayoutId xmlns:r="http://schemas.openxmlformats.org/officeDocument/2006/relationships" id="2147483651" r:id="Rb3b2510a71d349db"/>
    <p:sldLayoutId xmlns:r="http://schemas.openxmlformats.org/officeDocument/2006/relationships" id="2147483652" r:id="Rf8221638f37e45d7"/>
    <p:sldLayoutId xmlns:r="http://schemas.openxmlformats.org/officeDocument/2006/relationships" id="2147483653" r:id="Ra759417e92df439d"/>
    <p:sldLayoutId xmlns:r="http://schemas.openxmlformats.org/officeDocument/2006/relationships" id="2147483654" r:id="Rb642bb5240c844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1fd7f7e1a4121" /><Relationship Type="http://schemas.openxmlformats.org/officeDocument/2006/relationships/notesSlide" Target="/ppt/notesSlides/notesSlide1.xml" Id="Rf5623f7ffd9e44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7b37e1a43243e9" /><Relationship Type="http://schemas.openxmlformats.org/officeDocument/2006/relationships/notesSlide" Target="/ppt/notesSlides/notesSlide2.xml" Id="Rc0254463f62045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67ea926f9647a8" /><Relationship Type="http://schemas.openxmlformats.org/officeDocument/2006/relationships/notesSlide" Target="/ppt/notesSlides/notesSlide3.xml" Id="R7af77d9d63404a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f73995d6f47e0" /><Relationship Type="http://schemas.openxmlformats.org/officeDocument/2006/relationships/notesSlide" Target="/ppt/notesSlides/notesSlide4.xml" Id="Rb50633f9dc804f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953E0-54D1-42F5-829A-0C29BAD8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L2P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5407F-1AD6-47C3-BAD4-F7F92528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4"/>
                </a:solidFill>
                <a:latin typeface="Arial"/>
                <a:ea typeface="Arial"/>
                <a:cs typeface="Arial"/>
              </a:rPr>
              <a:t>Synthetic Northstar Supply data. No company data or personal information.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A6F8B-E13C-4545-865D-0008D4FA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Logic to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7BDD2-1185-4E0C-921D-384743E5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66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Reuse existing report logic to build</a:t>
            </a:r>
          </a:p>
          <a:p xmlns:a="http://schemas.openxmlformats.org/drawingml/2006/main">
            <a:pPr>
              <a:defRPr sz="322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a tested data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5C0F8-CB31-4B21-86CC-67AA93AD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Architect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3F33D-F4B0-45E6-A333-B2702755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Configures evidence,</a:t>
            </a:r>
          </a:p>
          <a:p xmlns:a="http://schemas.openxmlformats.org/drawingml/2006/main">
            <a: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tools and contracts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48E97-1590-46E6-9DD0-D5A8E1D3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9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Developer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5E0F1-1A71-472F-AC3C-D5735160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Traces definitions and</a:t>
            </a:r>
          </a:p>
          <a:p xmlns:a="http://schemas.openxmlformats.org/drawingml/2006/main">
            <a: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builds the 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62151-B1F4-4C91-8C4C-09734365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Analyst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0A6F4-EEA8-446E-989E-FA2E0274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Uses the passing release</a:t>
            </a:r>
          </a:p>
          <a:p xmlns:a="http://schemas.openxmlformats.org/drawingml/2006/main">
            <a: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for an account review</a:t>
            </a:r>
          </a:p>
        </p:txBody>
      </p:sp>
    </p:spTree>
    <p:extLst>
      <p:ext uri="{BB962C8B-B14F-4D97-AF65-F5344CB8AC3E}">
        <p14:creationId xmlns:p14="http://schemas.microsoft.com/office/powerpoint/2010/main" val="984471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3D4C7-6D9A-4824-8C82-2F1D09F7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Existing logic, tested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7B60C-3500-4767-B374-05D1B78E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4"/>
                </a:solidFill>
                <a:latin typeface="Arial"/>
                <a:ea typeface="Arial"/>
                <a:cs typeface="Arial"/>
              </a:rPr>
              <a:t>Synthetic Northstar Supply data. No company data or personal information.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E8D6B-D204-4F87-A9FE-9813A0F8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Qlik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05E3F-4402-48ED-BCAE-D909474E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Order date and ordered value</a:t>
            </a:r>
          </a:p>
          <a:p xmlns:a="http://schemas.openxmlformats.org/drawingml/2006/main">
            <a: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Load aliases and chart aggregation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67785-F8BB-407C-87F0-6C69AD61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Spotfire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E48F0-E8F8-473F-9AC3-BAECEBBB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5048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Invoice date and invoiced sales</a:t>
            </a:r>
          </a:p>
          <a:p xmlns:a="http://schemas.openxmlformats.org/drawingml/2006/main">
            <a:pPr>
              <a:defRPr sz="21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ExtendedPrice minus TaxAmount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290FB-A697-4891-8118-4C710762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3430"/>
                </a:solidFill>
                <a:latin typeface="Arial"/>
                <a:ea typeface="Arial"/>
                <a:cs typeface="Arial"/>
              </a:rPr>
              <a:t>Invalid stock-group join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BFF17-D1B3-413A-B53D-20F4F597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defPPr>
            <a:lvl1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1pPr>
            <a:lvl2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2pPr>
            <a:lvl3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3pPr>
            <a:lvl4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4pPr>
            <a:lvl5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5pPr>
            <a:lvl6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6pPr>
            <a:lvl7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7pPr>
            <a:lvl8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8pPr>
            <a:lvl9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A33430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A33430"/>
                </a:solidFill>
                <a:latin typeface="Arial"/>
                <a:ea typeface="Arial"/>
                <a:cs typeface="Arial"/>
              </a:rPr>
              <a:t>64,027.32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C41D2-D76F-4AE6-B5EA-893AB6A4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Duplicated sales. Release blocked.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63D49-3A24-40F6-80DA-AA4F227F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Corrected daily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AE574-C3AF-4E87-97CD-517C5D1E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42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53,589.47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0E3AD-62BD-415D-94C7-8B64B5A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241 rows. Contract passes.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A58DE-9D4A-46E4-8B7E-86A95FB6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Consumer queries the released version and proposes an account-review shortlist.</a:t>
            </a:r>
          </a:p>
        </p:txBody>
      </p:sp>
    </p:spTree>
    <p:extLst>
      <p:ext uri="{BB962C8B-B14F-4D97-AF65-F5344CB8AC3E}">
        <p14:creationId xmlns:p14="http://schemas.microsoft.com/office/powerpoint/2010/main" val="1615350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C05FA-B3B2-4884-80EF-9E8DA7A9464B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381000" y="1905000"/>
            <a:ext cx="228600" cy="35528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536574"/>
            </a:solidFill>
            <a:prstDash val="dash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A89EA-6383-4D10-9E8B-ACC8C85F0B83}"/>
              </a:ext>
            </a:extLst>
          </p:cNvPr>
          <p:cNvCxnSpPr>
            <a:stCxn xmlns:a="http://schemas.openxmlformats.org/drawingml/2006/main" id="9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10201275" y="23812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79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AB4316-0CFB-48C8-BC3F-29E7C0D8974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67600" y="3810000"/>
            <a:ext cx="1352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79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950E6-9BC9-4093-8DFB-B1CDC1B239E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24225" y="38100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79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70F41-C1B4-407B-9B3D-575A8911E42A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5991225" y="238125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79"/>
            </a:solidFill>
            <a:prstDash val="solid"/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4D2B6-E91A-4F65-94BE-EC46F087C77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24225" y="19050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F79"/>
            </a:solidFill>
            <a:prstDash val="solid"/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924D2-6C90-4AB6-9052-4A5D650D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Two agents with an enforced release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B402C-5496-44FC-BBB0-EFB903CA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4"/>
                </a:solidFill>
                <a:latin typeface="Arial"/>
                <a:ea typeface="Arial"/>
                <a:cs typeface="Arial"/>
              </a:rPr>
              <a:t>Synthetic Northstar Supply data. No company data or personal information.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5A312-20BC-4BF9-BBF6-CA96CE03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2B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Source evidence</a:t>
            </a:r>
          </a:p>
          <a:p xmlns:a="http://schemas.openxmlformats.org/drawingml/2006/main">
            <a: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Search + definitions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E3C93-619A-4730-AA2F-6CC70EAE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2875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Builder agent</a:t>
            </a:r>
          </a:p>
          <a:p xmlns:a="http://schemas.openxmlformats.org/drawingml/2006/main">
            <a: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Claude Opus + skills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677D8-D0A5-4998-81CA-83DCA4D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28750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Consumer agent</a:t>
            </a:r>
          </a:p>
          <a:p xmlns:a="http://schemas.openxmlformats.org/drawingml/2006/main">
            <a: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Released reads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4E57D-4D0D-481A-BC53-24E9E989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2B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Snapshot + mappings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3CAF3-B9EA-4A73-BB7D-1C2E9CE7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F7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Contract gate</a:t>
            </a:r>
          </a:p>
          <a:p xmlns:a="http://schemas.openxmlformats.org/drawingml/2006/main">
            <a:pPr algn="ctr">
              <a:defRPr sz="18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Validate + release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09C64-6F78-4F4B-9D91-03430AE7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2B3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Released product</a:t>
            </a:r>
          </a:p>
          <a:p xmlns:a="http://schemas.openxmlformats.org/drawingml/2006/main">
            <a:pPr algn="ctr">
              <a:defRPr sz="1875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Version + 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E14CD-B412-4E5D-B8B4-737FE75A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4"/>
                </a:solidFill>
                <a:latin typeface="Arial"/>
                <a:ea typeface="Arial"/>
                <a:cs typeface="Arial"/>
              </a:rPr>
              <a:t>Bounded build tools create candidates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B2972-A4AE-4C44-A823-0E85D516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2714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36574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53657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36574"/>
                </a:solidFill>
                <a:latin typeface="Arial"/>
                <a:ea typeface="Arial"/>
                <a:cs typeface="Arial"/>
              </a:rPr>
              <a:t>Future MCP connectors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973A4-C39D-4A87-8440-FB99AB2E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05400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4"/>
                </a:solidFill>
                <a:latin typeface="Arial"/>
                <a:ea typeface="Arial"/>
                <a:cs typeface="Arial"/>
              </a:rPr>
              <a:t>Local browser UI + Python backend invoke saved agents.</a:t>
            </a:r>
          </a:p>
          <a:p xmlns:a="http://schemas.openxmlformats.org/drawingml/2006/main">
            <a:pPr>
              <a:defRPr sz="180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574"/>
                </a:solidFill>
                <a:latin typeface="Arial"/>
                <a:ea typeface="Arial"/>
                <a:cs typeface="Arial"/>
              </a:rPr>
              <a:t>Current enforcement uses procedures under one workshop role.</a:t>
            </a:r>
          </a:p>
        </p:txBody>
      </p:sp>
    </p:spTree>
    <p:extLst>
      <p:ext uri="{BB962C8B-B14F-4D97-AF65-F5344CB8AC3E}">
        <p14:creationId xmlns:p14="http://schemas.microsoft.com/office/powerpoint/2010/main" val="808490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83E7B-3DF6-43B1-9F4E-DED088D5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2B38"/>
                </a:solidFill>
                <a:latin typeface="Arial"/>
                <a:ea typeface="Arial"/>
                <a:cs typeface="Arial"/>
              </a:rPr>
              <a:t>Results, limits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67A36-35DE-45CD-903F-2E2A2324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76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4"/>
                </a:solidFill>
                <a:latin typeface="Arial"/>
                <a:ea typeface="Arial"/>
                <a:cs typeface="Arial"/>
              </a:rPr>
              <a:t>Synthetic Northstar Supply data. No company data or personal information.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67628-B10C-4CB1-A5D3-274FDFDD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32 / 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A19A9-25CB-42B0-A3AA-D805AE69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Backend regression assertions passed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72D41-CF0E-4D44-9953-7F2380F8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19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8F6D9-DB78-4541-9C50-B2CEC8E6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Agent runs passed the v2 grader</a:t>
            </a:r>
          </a:p>
          <a:p xmlns:a="http://schemas.openxmlformats.org/drawingml/2006/main">
            <a:pPr>
              <a:defRPr sz="2100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Two wording flags for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B20CF-DDFD-455C-BE69-59DB6F2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EA859-68EE-4DCC-A59F-67787082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Failed candidates stay unreleased</a:t>
            </a:r>
          </a:p>
          <a:p xmlns:a="http://schemas.openxmlformats.org/drawingml/2006/main">
            <a: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Changed candidates cannot reuse validation</a:t>
            </a:r>
          </a:p>
          <a:p xmlns:a="http://schemas.openxmlformats.org/drawingml/2006/main">
            <a: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Consumer ranking matches source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8208C-2CD4-4F1A-980E-A456E547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575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Native evaluations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C34B2-88AE-4D2C-AAD6-00C04C68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Two read-only cases per agent</a:t>
            </a:r>
          </a:p>
          <a:p xmlns:a="http://schemas.openxmlformats.org/drawingml/2006/main">
            <a: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All four answers scored 1.00</a:t>
            </a:r>
          </a:p>
          <a:p xmlns:a="http://schemas.openxmlformats.org/drawingml/2006/main">
            <a:pPr>
              <a:defRPr sz="1875" b="0">
                <a:solidFill>
                  <a:srgbClr val="182B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8"/>
                </a:solidFill>
                <a:latin typeface="Arial"/>
                <a:ea typeface="Arial"/>
                <a:cs typeface="Arial"/>
              </a:rPr>
              <a:t>One builder consistency score: 0.67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E4D25-506E-4653-8E3E-AA262E36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574"/>
                </a:solidFill>
                <a:latin typeface="Arial"/>
                <a:ea typeface="Arial"/>
                <a:cs typeface="Arial"/>
              </a:rPr>
              <a:t>Synthetic fixtures. No native BI connectors. No measured time savings or campaign uplift.</a:t>
            </a:r>
          </a:p>
        </p:txBody>
      </p:sp>
    </p:spTree>
    <p:extLst>
      <p:ext uri="{BB962C8B-B14F-4D97-AF65-F5344CB8AC3E}">
        <p14:creationId xmlns:p14="http://schemas.microsoft.com/office/powerpoint/2010/main" val="676898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2026-10-23T20:48:30.2420000Z</dcterms:created>
  <dcterms:modified xsi:type="dcterms:W3CDTF">2026-10-23T20:48:30.2420000Z</dcterms:modified>
</coreProperties>
</file>